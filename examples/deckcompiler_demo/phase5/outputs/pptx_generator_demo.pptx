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3" y="117043"/>
            <a:ext cx="58522" cy="1025957"/>
          </a:xfrm>
          <a:prstGeom prst="roundRect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0934" y="117043"/>
            <a:ext cx="512978" cy="58522"/>
          </a:xfrm>
          <a:prstGeom prst="roundRect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305" y="160934"/>
            <a:ext cx="9378086" cy="688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framing and thesis: AI Data-center Cooling-system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95935" y="908914"/>
            <a:ext cx="7179869" cy="1609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1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origin: documentary fact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623499" y="308153"/>
            <a:ext cx="1099109" cy="395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7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671609" y="894283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6434" y="842162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81260" y="790956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87000" y="739750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91826" y="688543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934" y="1143000"/>
            <a:ext cx="11649456" cy="1829"/>
          </a:xfrm>
          <a:prstGeom prst="line">
            <a:avLst/>
          </a:prstGeom>
          <a:noFill/>
          <a:ln w="8788">
            <a:solidFill>
              <a:srgbClr val="0E2A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783" y="1391717"/>
            <a:ext cx="4835347" cy="2549347"/>
          </a:xfrm>
          <a:prstGeom prst="roundRect">
            <a:avLst>
              <a:gd name="adj" fmla="val 2296"/>
            </a:avLst>
          </a:prstGeom>
          <a:solidFill>
            <a:srgbClr val="FFF2EC"/>
          </a:solidFill>
          <a:ln w="10262">
            <a:solidFill>
              <a:srgbClr val="C64B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" y="1391717"/>
            <a:ext cx="4835347" cy="263347"/>
          </a:xfrm>
          <a:prstGeom prst="roundRect">
            <a:avLst>
              <a:gd name="adj" fmla="val 5556"/>
            </a:avLst>
          </a:prstGeom>
          <a:solidFill>
            <a:srgbClr val="C64B1B"/>
          </a:solidFill>
          <a:ln w="1270">
            <a:solidFill>
              <a:srgbClr val="C64B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0566" y="1391717"/>
            <a:ext cx="4659782" cy="2633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DECISION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1500" y="1875434"/>
            <a:ext cx="761695" cy="761695"/>
          </a:xfrm>
          <a:prstGeom prst="ellipse">
            <a:avLst/>
          </a:prstGeom>
          <a:solidFill>
            <a:srgbClr val="C64B1B"/>
          </a:solidFill>
          <a:ln w="7328">
            <a:solidFill>
              <a:srgbClr val="C64B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" y="1875434"/>
            <a:ext cx="76169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538935" y="1802282"/>
            <a:ext cx="3311957" cy="93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650" b="1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 phased combined response: instrument the baseline, commission automated pump failover, and then tighten sensor calibration governance.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571500" y="2930652"/>
            <a:ext cx="4278478" cy="1829"/>
          </a:xfrm>
          <a:prstGeom prst="line">
            <a:avLst/>
          </a:prstGeom>
          <a:noFill/>
          <a:ln w="7328">
            <a:solidFill>
              <a:srgbClr val="C64B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5391" y="3165653"/>
            <a:ext cx="263347" cy="263347"/>
          </a:xfrm>
          <a:prstGeom prst="ellipse">
            <a:avLst/>
          </a:prstGeom>
          <a:solidFill>
            <a:srgbClr val="FFFFFF"/>
          </a:solidFill>
          <a:ln w="14656">
            <a:solidFill>
              <a:srgbClr val="C64B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" y="3165653"/>
            <a:ext cx="263347" cy="26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64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2805" y="3151022"/>
            <a:ext cx="938174" cy="2935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64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007108" y="3165653"/>
            <a:ext cx="263347" cy="263347"/>
          </a:xfrm>
          <a:prstGeom prst="ellipse">
            <a:avLst/>
          </a:prstGeom>
          <a:solidFill>
            <a:srgbClr val="FFFFFF"/>
          </a:solidFill>
          <a:ln w="14656">
            <a:solidFill>
              <a:srgbClr val="C64B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07108" y="3165653"/>
            <a:ext cx="263347" cy="26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64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344522" y="3151022"/>
            <a:ext cx="938174" cy="2935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64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FAILOVER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99739" y="3165653"/>
            <a:ext cx="263347" cy="263347"/>
          </a:xfrm>
          <a:prstGeom prst="ellipse">
            <a:avLst/>
          </a:prstGeom>
          <a:solidFill>
            <a:srgbClr val="FFFFFF"/>
          </a:solidFill>
          <a:ln w="14656">
            <a:solidFill>
              <a:srgbClr val="C64B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9739" y="3165653"/>
            <a:ext cx="263347" cy="26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64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36238" y="3151022"/>
            <a:ext cx="938174" cy="2935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64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36108" y="1391717"/>
            <a:ext cx="6403543" cy="263347"/>
          </a:xfrm>
          <a:prstGeom prst="roundRect">
            <a:avLst>
              <a:gd name="adj" fmla="val 5556"/>
            </a:avLst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24805" y="1391717"/>
            <a:ext cx="6227978" cy="2633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36108" y="1773022"/>
            <a:ext cx="6403543" cy="1011326"/>
          </a:xfrm>
          <a:prstGeom prst="roundRect">
            <a:avLst>
              <a:gd name="adj" fmla="val 5787"/>
            </a:avLst>
          </a:prstGeom>
          <a:solidFill>
            <a:srgbClr val="EEF5F1"/>
          </a:solidFill>
          <a:ln w="8788">
            <a:solidFill>
              <a:srgbClr val="3F76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68696" y="1904695"/>
            <a:ext cx="308153" cy="308153"/>
          </a:xfrm>
          <a:prstGeom prst="ellipse">
            <a:avLst/>
          </a:prstGeom>
          <a:solidFill>
            <a:srgbClr val="FFFFFF"/>
          </a:solidFill>
          <a:ln w="14656">
            <a:solidFill>
              <a:srgbClr val="3F76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68696" y="1904695"/>
            <a:ext cx="308153" cy="308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F7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92978" y="1890065"/>
            <a:ext cx="5700370" cy="7763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sensing reduces single-point blind spots but does not remove calibration drift risk.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5436108" y="2916022"/>
            <a:ext cx="6403543" cy="1025957"/>
          </a:xfrm>
          <a:prstGeom prst="roundRect">
            <a:avLst>
              <a:gd name="adj" fmla="val 5704"/>
            </a:avLst>
          </a:prstGeom>
          <a:solidFill>
            <a:srgbClr val="EDF3F9"/>
          </a:solidFill>
          <a:ln w="8788">
            <a:solidFill>
              <a:srgbClr val="0E2A4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68696" y="3047695"/>
            <a:ext cx="308153" cy="308153"/>
          </a:xfrm>
          <a:prstGeom prst="ellipse">
            <a:avLst/>
          </a:prstGeom>
          <a:solidFill>
            <a:srgbClr val="FFFFFF"/>
          </a:solidFill>
          <a:ln w="14656">
            <a:solidFill>
              <a:srgbClr val="0E2A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68696" y="3047695"/>
            <a:ext cx="308153" cy="308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92978" y="3033065"/>
            <a:ext cx="570037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loss of reliable flow telemetry can hide a developing restriction until component temperatures begin to rise.</a:t>
            </a:r>
            <a:endParaRPr lang="en-US" sz="1220" dirty="0"/>
          </a:p>
        </p:txBody>
      </p:sp>
      <p:sp>
        <p:nvSpPr>
          <p:cNvPr id="39" name="Shape 37"/>
          <p:cNvSpPr/>
          <p:nvPr/>
        </p:nvSpPr>
        <p:spPr>
          <a:xfrm>
            <a:off x="322783" y="4219956"/>
            <a:ext cx="11517782" cy="263347"/>
          </a:xfrm>
          <a:prstGeom prst="roundRect">
            <a:avLst>
              <a:gd name="adj" fmla="val 5556"/>
            </a:avLst>
          </a:prstGeom>
          <a:solidFill>
            <a:srgbClr val="315E91"/>
          </a:solidFill>
          <a:ln w="1270">
            <a:solidFill>
              <a:srgbClr val="315E9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0566" y="4219956"/>
            <a:ext cx="11342218" cy="2633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DECISION PATH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86130" y="4732934"/>
            <a:ext cx="3341218" cy="630022"/>
          </a:xfrm>
          <a:prstGeom prst="chevron">
            <a:avLst/>
          </a:prstGeom>
          <a:solidFill>
            <a:srgbClr val="0E2A47"/>
          </a:solidFill>
          <a:ln w="7328">
            <a:solidFill>
              <a:srgbClr val="0E2A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0956" y="4732934"/>
            <a:ext cx="2798978" cy="630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THE BASELINE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249217" y="4732934"/>
            <a:ext cx="3341218" cy="630022"/>
          </a:xfrm>
          <a:prstGeom prst="chevron">
            <a:avLst/>
          </a:prstGeom>
          <a:solidFill>
            <a:srgbClr val="3F765C"/>
          </a:solidFill>
          <a:ln w="7328">
            <a:solidFill>
              <a:srgbClr val="3F76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54957" y="4732934"/>
            <a:ext cx="2798978" cy="630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AUTOMATED PUMP FAILOVER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913218" y="4732934"/>
            <a:ext cx="3341218" cy="630022"/>
          </a:xfrm>
          <a:prstGeom prst="chevron">
            <a:avLst/>
          </a:prstGeom>
          <a:solidFill>
            <a:srgbClr val="C64B1B"/>
          </a:solidFill>
          <a:ln w="7328">
            <a:solidFill>
              <a:srgbClr val="C64B1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18043" y="4732934"/>
            <a:ext cx="2798978" cy="630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TIGHTEN SENSOR CALIBRATION GOVERNANCE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60934" y="6140196"/>
            <a:ext cx="11649456" cy="1829"/>
          </a:xfrm>
          <a:prstGeom prst="line">
            <a:avLst/>
          </a:prstGeom>
          <a:noFill/>
          <a:ln w="7328">
            <a:solidFill>
              <a:srgbClr val="D7E0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0934" y="6242609"/>
            <a:ext cx="131674" cy="131674"/>
          </a:xfrm>
          <a:prstGeom prst="roundRect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1305" y="6191402"/>
            <a:ext cx="10623499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51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Center Cooling Risk Decision Report, page 3  |  AI Data Center Cooling System Overview, page 2  |  AI Data Center Cooling System Overview, page 2</a:t>
            </a:r>
            <a:endParaRPr lang="en-US" sz="710" dirty="0"/>
          </a:p>
        </p:txBody>
      </p:sp>
      <p:sp>
        <p:nvSpPr>
          <p:cNvPr id="50" name="Text 48"/>
          <p:cNvSpPr/>
          <p:nvPr/>
        </p:nvSpPr>
        <p:spPr>
          <a:xfrm>
            <a:off x="381305" y="6381598"/>
            <a:ext cx="10623499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98A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notes: page 3, block 2 — AI Data Center Cooling Risk Decision Report; page 2, block 6 — AI Data Center Cooling System Overview; page 2, block 5 — AI Data Center Cooling System Overview</a:t>
            </a:r>
            <a:endParaRPr lang="en-US" sz="640" dirty="0"/>
          </a:p>
        </p:txBody>
      </p:sp>
      <p:sp>
        <p:nvSpPr>
          <p:cNvPr id="51" name="Text 49"/>
          <p:cNvSpPr/>
          <p:nvPr/>
        </p:nvSpPr>
        <p:spPr>
          <a:xfrm>
            <a:off x="11099902" y="6242609"/>
            <a:ext cx="703174" cy="204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6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1722608" y="6594653"/>
            <a:ext cx="87782" cy="87782"/>
          </a:xfrm>
          <a:prstGeom prst="ellipse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3" y="117043"/>
            <a:ext cx="58522" cy="1025957"/>
          </a:xfrm>
          <a:prstGeom prst="roundRect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0934" y="117043"/>
            <a:ext cx="512978" cy="58522"/>
          </a:xfrm>
          <a:prstGeom prst="roundRect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305" y="263347"/>
            <a:ext cx="9378086" cy="45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and operating process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5935" y="761695"/>
            <a:ext cx="7179869" cy="2048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1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origin: documentary fact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23499" y="308153"/>
            <a:ext cx="1099109" cy="395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7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671609" y="894283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6434" y="842162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81260" y="790956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87000" y="739750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91826" y="688543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934" y="1143000"/>
            <a:ext cx="11649456" cy="1829"/>
          </a:xfrm>
          <a:prstGeom prst="line">
            <a:avLst/>
          </a:prstGeom>
          <a:noFill/>
          <a:ln w="8788">
            <a:solidFill>
              <a:srgbClr val="0E2A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783" y="1391717"/>
            <a:ext cx="11517782" cy="263347"/>
          </a:xfrm>
          <a:prstGeom prst="roundRect">
            <a:avLst>
              <a:gd name="adj" fmla="val 5556"/>
            </a:avLst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0566" y="1391717"/>
            <a:ext cx="11342218" cy="2633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OPERATING PROCESS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2783" y="1860804"/>
            <a:ext cx="2593238" cy="3341218"/>
          </a:xfrm>
          <a:prstGeom prst="roundRect">
            <a:avLst>
              <a:gd name="adj" fmla="val 2257"/>
            </a:avLst>
          </a:prstGeom>
          <a:solidFill>
            <a:srgbClr val="EDF3F9"/>
          </a:solidFill>
          <a:ln w="8788">
            <a:solidFill>
              <a:srgbClr val="0E2A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16152" y="2037283"/>
            <a:ext cx="805586" cy="805586"/>
          </a:xfrm>
          <a:prstGeom prst="ellipse">
            <a:avLst/>
          </a:prstGeom>
          <a:solidFill>
            <a:srgbClr val="FFFFFF"/>
          </a:solidFill>
          <a:ln w="14656">
            <a:solidFill>
              <a:srgbClr val="0E2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2037283"/>
            <a:ext cx="805586" cy="805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98348" y="3003804"/>
            <a:ext cx="2242109" cy="160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" y="3238805"/>
            <a:ext cx="2242109" cy="2935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REJECTION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6870" y="3633826"/>
            <a:ext cx="2125066" cy="1829"/>
          </a:xfrm>
          <a:prstGeom prst="line">
            <a:avLst/>
          </a:prstGeom>
          <a:noFill/>
          <a:ln w="7328">
            <a:solidFill>
              <a:srgbClr val="0E2A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7609" y="3781044"/>
            <a:ext cx="2183587" cy="1157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30" dirty="0">
                <a:solidFill>
                  <a:srgbClr val="51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rejection is the transfer of collected thermal energy from the facility loop to an external sink without mixing the two fluids.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2886761" y="2945282"/>
            <a:ext cx="32278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98A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202229" y="1860804"/>
            <a:ext cx="2593238" cy="3341218"/>
          </a:xfrm>
          <a:prstGeom prst="roundRect">
            <a:avLst>
              <a:gd name="adj" fmla="val 2257"/>
            </a:avLst>
          </a:prstGeom>
          <a:solidFill>
            <a:srgbClr val="EEF5F1"/>
          </a:solidFill>
          <a:ln w="8788">
            <a:solidFill>
              <a:srgbClr val="3F76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95598" y="2037283"/>
            <a:ext cx="805586" cy="805586"/>
          </a:xfrm>
          <a:prstGeom prst="ellipse">
            <a:avLst/>
          </a:prstGeom>
          <a:solidFill>
            <a:srgbClr val="FFFFFF"/>
          </a:solidFill>
          <a:ln w="14656">
            <a:solidFill>
              <a:srgbClr val="3F76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95598" y="2037283"/>
            <a:ext cx="805586" cy="805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3F7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3377794" y="3003804"/>
            <a:ext cx="2242109" cy="160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F7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77794" y="3238805"/>
            <a:ext cx="2242109" cy="2935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LOOP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36315" y="3633826"/>
            <a:ext cx="2125066" cy="1829"/>
          </a:xfrm>
          <a:prstGeom prst="line">
            <a:avLst/>
          </a:prstGeom>
          <a:noFill/>
          <a:ln w="7328">
            <a:solidFill>
              <a:srgbClr val="3F76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7054" y="3781044"/>
            <a:ext cx="2183587" cy="1157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30" dirty="0">
                <a:solidFill>
                  <a:srgbClr val="51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primary cooling loop is the closed fluid path that carries heat from compute cold plates to a facility heat exchanger.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5766206" y="2945282"/>
            <a:ext cx="32278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98A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080760" y="1860804"/>
            <a:ext cx="2593238" cy="3341218"/>
          </a:xfrm>
          <a:prstGeom prst="roundRect">
            <a:avLst>
              <a:gd name="adj" fmla="val 2257"/>
            </a:avLst>
          </a:prstGeom>
          <a:solidFill>
            <a:srgbClr val="FFF2EC"/>
          </a:solidFill>
          <a:ln w="8788">
            <a:solidFill>
              <a:srgbClr val="C64B1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75043" y="2037283"/>
            <a:ext cx="805586" cy="805586"/>
          </a:xfrm>
          <a:prstGeom prst="ellipse">
            <a:avLst/>
          </a:prstGeom>
          <a:solidFill>
            <a:srgbClr val="FFFFFF"/>
          </a:solidFill>
          <a:ln w="14656">
            <a:solidFill>
              <a:srgbClr val="C64B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75043" y="2037283"/>
            <a:ext cx="805586" cy="805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C64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6257239" y="3003804"/>
            <a:ext cx="2242109" cy="160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64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57239" y="3238805"/>
            <a:ext cx="2242109" cy="2935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&amp; CONTROL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15761" y="3633826"/>
            <a:ext cx="2125066" cy="1829"/>
          </a:xfrm>
          <a:prstGeom prst="line">
            <a:avLst/>
          </a:prstGeom>
          <a:noFill/>
          <a:ln w="7328">
            <a:solidFill>
              <a:srgbClr val="C64B1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6500" y="3781044"/>
            <a:ext cx="2183587" cy="1157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30" dirty="0">
                <a:solidFill>
                  <a:srgbClr val="51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Temperature, flow, and differential-pressure sensors feed a local controller that adjusts pump speed and valve position every control interval.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8645652" y="2945282"/>
            <a:ext cx="32278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98A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8960206" y="1860804"/>
            <a:ext cx="2593238" cy="3341218"/>
          </a:xfrm>
          <a:prstGeom prst="roundRect">
            <a:avLst>
              <a:gd name="adj" fmla="val 2257"/>
            </a:avLst>
          </a:prstGeom>
          <a:solidFill>
            <a:srgbClr val="EDF3F9"/>
          </a:solidFill>
          <a:ln w="8788">
            <a:solidFill>
              <a:srgbClr val="315E9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54489" y="2037283"/>
            <a:ext cx="805586" cy="805586"/>
          </a:xfrm>
          <a:prstGeom prst="ellipse">
            <a:avLst/>
          </a:prstGeom>
          <a:solidFill>
            <a:srgbClr val="FFFFFF"/>
          </a:solidFill>
          <a:ln w="14656">
            <a:solidFill>
              <a:srgbClr val="315E9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54489" y="2037283"/>
            <a:ext cx="805586" cy="805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315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9136685" y="3003804"/>
            <a:ext cx="2242109" cy="160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15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36685" y="3238805"/>
            <a:ext cx="2242109" cy="2935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COLD-PLATE INTAKE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195206" y="3633826"/>
            <a:ext cx="2125066" cy="1829"/>
          </a:xfrm>
          <a:prstGeom prst="line">
            <a:avLst/>
          </a:prstGeom>
          <a:noFill/>
          <a:ln w="7328">
            <a:solidFill>
              <a:srgbClr val="315E9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65946" y="3781044"/>
            <a:ext cx="2183587" cy="1157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30" dirty="0">
                <a:solidFill>
                  <a:srgbClr val="51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moves coolant through cold plates where server heat enters the primary loop.</a:t>
            </a:r>
            <a:endParaRPr lang="en-US" sz="1130" dirty="0"/>
          </a:p>
        </p:txBody>
      </p:sp>
      <p:sp>
        <p:nvSpPr>
          <p:cNvPr id="46" name="Shape 44"/>
          <p:cNvSpPr/>
          <p:nvPr/>
        </p:nvSpPr>
        <p:spPr>
          <a:xfrm>
            <a:off x="322783" y="5421478"/>
            <a:ext cx="11517782" cy="527609"/>
          </a:xfrm>
          <a:prstGeom prst="roundRect">
            <a:avLst>
              <a:gd name="adj" fmla="val 11092"/>
            </a:avLst>
          </a:prstGeom>
          <a:solidFill>
            <a:srgbClr val="FFFFFF"/>
          </a:solidFill>
          <a:ln w="7328">
            <a:solidFill>
              <a:srgbClr val="D7E0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978" y="5421478"/>
            <a:ext cx="11136478" cy="5276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LOOP  →  SENSORS  →  CONTROLLER  →  HEAT REJECTION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160934" y="6140196"/>
            <a:ext cx="11649456" cy="1829"/>
          </a:xfrm>
          <a:prstGeom prst="line">
            <a:avLst/>
          </a:prstGeom>
          <a:noFill/>
          <a:ln w="7328">
            <a:solidFill>
              <a:srgbClr val="D7E0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0934" y="6242609"/>
            <a:ext cx="131674" cy="131674"/>
          </a:xfrm>
          <a:prstGeom prst="roundRect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1305" y="6191402"/>
            <a:ext cx="10623499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51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Center Cooling System Overview, page 1  |  AI Data Center Cooling System Overview, page 1  |  AI Data Center Cooling System Overview, page 2  |  AI Data Center Cooling System Overview, page 1</a:t>
            </a:r>
            <a:endParaRPr lang="en-US" sz="710" dirty="0"/>
          </a:p>
        </p:txBody>
      </p:sp>
      <p:sp>
        <p:nvSpPr>
          <p:cNvPr id="51" name="Text 49"/>
          <p:cNvSpPr/>
          <p:nvPr/>
        </p:nvSpPr>
        <p:spPr>
          <a:xfrm>
            <a:off x="381305" y="6381598"/>
            <a:ext cx="10623499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98A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notes: page 1, block 3 — AI Data Center Cooling System Overview; page 1, block 2 — AI Data Center Cooling System Overview; page 2, block 2 — AI Data Center Cooling System Overview; page 1, block 4 — AI Data Center Cooling System Overview</a:t>
            </a:r>
            <a:endParaRPr lang="en-US" sz="640" dirty="0"/>
          </a:p>
        </p:txBody>
      </p:sp>
      <p:sp>
        <p:nvSpPr>
          <p:cNvPr id="52" name="Text 50"/>
          <p:cNvSpPr/>
          <p:nvPr/>
        </p:nvSpPr>
        <p:spPr>
          <a:xfrm>
            <a:off x="11099902" y="6242609"/>
            <a:ext cx="703174" cy="204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1722608" y="6594653"/>
            <a:ext cx="87782" cy="87782"/>
          </a:xfrm>
          <a:prstGeom prst="ellipse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3" y="117043"/>
            <a:ext cx="58522" cy="1025957"/>
          </a:xfrm>
          <a:prstGeom prst="roundRect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0934" y="117043"/>
            <a:ext cx="512978" cy="58522"/>
          </a:xfrm>
          <a:prstGeom prst="roundRect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305" y="263347"/>
            <a:ext cx="9378086" cy="45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Evidence-backed risk findings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5935" y="761695"/>
            <a:ext cx="7179869" cy="2048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1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origin: documentary fact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23499" y="308153"/>
            <a:ext cx="1099109" cy="395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7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671609" y="894283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6434" y="842162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81260" y="790956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87000" y="739750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91826" y="688543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934" y="1143000"/>
            <a:ext cx="11649456" cy="1829"/>
          </a:xfrm>
          <a:prstGeom prst="line">
            <a:avLst/>
          </a:prstGeom>
          <a:noFill/>
          <a:ln w="8788">
            <a:solidFill>
              <a:srgbClr val="0E2A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783" y="1391717"/>
            <a:ext cx="11517782" cy="263347"/>
          </a:xfrm>
          <a:prstGeom prst="roundRect">
            <a:avLst>
              <a:gd name="adj" fmla="val 5556"/>
            </a:avLst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0566" y="1391717"/>
            <a:ext cx="11342218" cy="2633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EVIDENCE-BACKED RISK FIELD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2783" y="1802282"/>
            <a:ext cx="3663086" cy="1612087"/>
          </a:xfrm>
          <a:prstGeom prst="roundRect">
            <a:avLst>
              <a:gd name="adj" fmla="val 3630"/>
            </a:avLst>
          </a:prstGeom>
          <a:solidFill>
            <a:srgbClr val="EDF3F9"/>
          </a:solidFill>
          <a:ln w="8788">
            <a:solidFill>
              <a:srgbClr val="0E2A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4457" y="1933956"/>
            <a:ext cx="308153" cy="308153"/>
          </a:xfrm>
          <a:prstGeom prst="ellipse">
            <a:avLst/>
          </a:prstGeom>
          <a:solidFill>
            <a:srgbClr val="FFFFFF"/>
          </a:solidFill>
          <a:ln w="14656">
            <a:solidFill>
              <a:srgbClr val="0E2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7" y="1933956"/>
            <a:ext cx="308153" cy="308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9653" y="1919326"/>
            <a:ext cx="2959913" cy="1377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sensing reduces single-point blind spots but does not remove calibration drift risk.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894283" y="1992478"/>
            <a:ext cx="2916022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FINDING 01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146804" y="1802282"/>
            <a:ext cx="3663086" cy="1612087"/>
          </a:xfrm>
          <a:prstGeom prst="roundRect">
            <a:avLst>
              <a:gd name="adj" fmla="val 3630"/>
            </a:avLst>
          </a:prstGeom>
          <a:solidFill>
            <a:srgbClr val="EEF5F1"/>
          </a:solidFill>
          <a:ln w="8788">
            <a:solidFill>
              <a:srgbClr val="3F76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78478" y="1933956"/>
            <a:ext cx="308153" cy="308153"/>
          </a:xfrm>
          <a:prstGeom prst="ellipse">
            <a:avLst/>
          </a:prstGeom>
          <a:solidFill>
            <a:srgbClr val="FFFFFF"/>
          </a:solidFill>
          <a:ln w="14656">
            <a:solidFill>
              <a:srgbClr val="3F76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8478" y="1933956"/>
            <a:ext cx="308153" cy="308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F7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3674" y="1919326"/>
            <a:ext cx="2959913" cy="1377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loss of reliable flow telemetry can hide a developing restriction until component temperatures begin to rise.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4718304" y="1992478"/>
            <a:ext cx="2916022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3F7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FINDING 02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971739" y="1802282"/>
            <a:ext cx="3868826" cy="1612087"/>
          </a:xfrm>
          <a:prstGeom prst="roundRect">
            <a:avLst>
              <a:gd name="adj" fmla="val 3630"/>
            </a:avLst>
          </a:prstGeom>
          <a:solidFill>
            <a:srgbClr val="FFF2EC"/>
          </a:solidFill>
          <a:ln w="8788">
            <a:solidFill>
              <a:srgbClr val="C64B1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03413" y="1933956"/>
            <a:ext cx="308153" cy="308153"/>
          </a:xfrm>
          <a:prstGeom prst="ellipse">
            <a:avLst/>
          </a:prstGeom>
          <a:solidFill>
            <a:srgbClr val="FFFFFF"/>
          </a:solidFill>
          <a:ln w="14656">
            <a:solidFill>
              <a:srgbClr val="C64B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03413" y="1933956"/>
            <a:ext cx="308153" cy="308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64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28609" y="1919326"/>
            <a:ext cx="3164738" cy="1377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heat-rejection saturation can affect multiple compute rows at the same time.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8543239" y="1992478"/>
            <a:ext cx="3120847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C64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FINDING 03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2227478" y="3604565"/>
            <a:ext cx="3663086" cy="1612087"/>
          </a:xfrm>
          <a:prstGeom prst="roundRect">
            <a:avLst>
              <a:gd name="adj" fmla="val 3630"/>
            </a:avLst>
          </a:prstGeom>
          <a:solidFill>
            <a:srgbClr val="EDF3F9"/>
          </a:solidFill>
          <a:ln w="8788">
            <a:solidFill>
              <a:srgbClr val="315E9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9152" y="3737153"/>
            <a:ext cx="308153" cy="308153"/>
          </a:xfrm>
          <a:prstGeom prst="ellipse">
            <a:avLst/>
          </a:prstGeom>
          <a:solidFill>
            <a:srgbClr val="FFFFFF"/>
          </a:solidFill>
          <a:ln w="14656">
            <a:solidFill>
              <a:srgbClr val="315E9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59152" y="3737153"/>
            <a:ext cx="308153" cy="308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15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784348" y="3722522"/>
            <a:ext cx="2959913" cy="1377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combined option can address both rapid flow loss and slower sensor degradation without requiring a full plant redesign.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2798978" y="3795674"/>
            <a:ext cx="2916022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315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FINDING 04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051499" y="3604565"/>
            <a:ext cx="3663086" cy="1612087"/>
          </a:xfrm>
          <a:prstGeom prst="roundRect">
            <a:avLst>
              <a:gd name="adj" fmla="val 3630"/>
            </a:avLst>
          </a:prstGeom>
          <a:solidFill>
            <a:srgbClr val="F1F3F5"/>
          </a:solidFill>
          <a:ln w="8788">
            <a:solidFill>
              <a:srgbClr val="98A5B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84087" y="3737153"/>
            <a:ext cx="308153" cy="308153"/>
          </a:xfrm>
          <a:prstGeom prst="ellipse">
            <a:avLst/>
          </a:prstGeom>
          <a:solidFill>
            <a:srgbClr val="FFFFFF"/>
          </a:solidFill>
          <a:ln w="14656">
            <a:solidFill>
              <a:srgbClr val="98A5B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84087" y="3737153"/>
            <a:ext cx="308153" cy="3081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8A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08369" y="3722522"/>
            <a:ext cx="2959913" cy="1377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20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heat-rejection capacity remains a shared upstream constraint even when the primary loop is healthy.</a:t>
            </a:r>
            <a:endParaRPr lang="en-US" sz="1220" dirty="0"/>
          </a:p>
        </p:txBody>
      </p:sp>
      <p:sp>
        <p:nvSpPr>
          <p:cNvPr id="39" name="Text 37"/>
          <p:cNvSpPr/>
          <p:nvPr/>
        </p:nvSpPr>
        <p:spPr>
          <a:xfrm>
            <a:off x="6622999" y="3795674"/>
            <a:ext cx="2916022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b="1" dirty="0">
                <a:solidFill>
                  <a:srgbClr val="98A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FINDING 05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322783" y="5480914"/>
            <a:ext cx="11517782" cy="469087"/>
          </a:xfrm>
          <a:prstGeom prst="roundRect">
            <a:avLst>
              <a:gd name="adj" fmla="val 12476"/>
            </a:avLst>
          </a:prstGeom>
          <a:solidFill>
            <a:srgbClr val="FFFFFF"/>
          </a:solidFill>
          <a:ln w="7328">
            <a:solidFill>
              <a:srgbClr val="D7E0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978" y="5480914"/>
            <a:ext cx="11136478" cy="4690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51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  ·  FLOW  ·  SHARED HEAT REJECTION  ·  COMBINED RESPONSE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0934" y="6140196"/>
            <a:ext cx="11649456" cy="1829"/>
          </a:xfrm>
          <a:prstGeom prst="line">
            <a:avLst/>
          </a:prstGeom>
          <a:noFill/>
          <a:ln w="7328">
            <a:solidFill>
              <a:srgbClr val="D7E0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0934" y="6242609"/>
            <a:ext cx="131674" cy="131674"/>
          </a:xfrm>
          <a:prstGeom prst="roundRect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1305" y="6191402"/>
            <a:ext cx="10623499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51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Center Cooling System Overview, page 2  |  AI Data Center Cooling System Overview, page 2  |  AI Data Center Cooling Risk Decision Report, page 1  |  AI Data Center Cooling Risk Decision Report, page 2  |  AI Data Center Cooling System Overview, page 3</a:t>
            </a:r>
            <a:endParaRPr lang="en-US" sz="710" dirty="0"/>
          </a:p>
        </p:txBody>
      </p:sp>
      <p:sp>
        <p:nvSpPr>
          <p:cNvPr id="45" name="Text 43"/>
          <p:cNvSpPr/>
          <p:nvPr/>
        </p:nvSpPr>
        <p:spPr>
          <a:xfrm>
            <a:off x="381305" y="6381598"/>
            <a:ext cx="10623499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98A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notes: page 2, block 6 — AI Data Center Cooling System Overview; page 2, block 5 — AI Data Center Cooling System Overview; page 1, block 4 — AI Data Center Cooling Risk Decision Report; page 2, block 5 — AI Data Center Cooling Risk Decision Report; page 3, block 4 — AI Data Center Cooling System Overview</a:t>
            </a:r>
            <a:endParaRPr lang="en-US" sz="640" dirty="0"/>
          </a:p>
        </p:txBody>
      </p:sp>
      <p:sp>
        <p:nvSpPr>
          <p:cNvPr id="46" name="Text 44"/>
          <p:cNvSpPr/>
          <p:nvPr/>
        </p:nvSpPr>
        <p:spPr>
          <a:xfrm>
            <a:off x="11099902" y="6242609"/>
            <a:ext cx="703174" cy="204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1722608" y="6594653"/>
            <a:ext cx="87782" cy="87782"/>
          </a:xfrm>
          <a:prstGeom prst="ellipse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2783" y="1787652"/>
          <a:ext cx="11517782" cy="3803904"/>
        </p:xfrm>
        <a:graphic>
          <a:graphicData uri="http://schemas.openxmlformats.org/drawingml/2006/table">
            <a:tbl>
              <a:tblPr/>
              <a:tblGrid>
                <a:gridCol w="1831543"/>
                <a:gridCol w="9686239"/>
              </a:tblGrid>
              <a:tr h="9509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 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A adds pump-path redundancy and automated failover, giving the strongest interruption protection at the highest implementation effort.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E2A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 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F7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7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7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76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B increases monitoring and calibration frequency, reducing detection delay at lower effort but leaving pump-path exposure unchanged.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F7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7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7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7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1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RULE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 03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64B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4B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4B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4B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4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42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Prefer an option that protects thermal margin, preserves maintainability, and can be verified through staged commissioning.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C64B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4B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4B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4B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GUARDRAIL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 04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315E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5E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E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E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E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1422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synthetic normal supply-temperature target is 27 C with an allowed steady-state band of plus or minus 1 C.</a:t>
                      </a:r>
                      <a:endParaRPr lang="en-US" sz="12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315E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15E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15E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15E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102413" y="117043"/>
            <a:ext cx="58522" cy="1025957"/>
          </a:xfrm>
          <a:prstGeom prst="roundRect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60934" y="117043"/>
            <a:ext cx="512978" cy="58522"/>
          </a:xfrm>
          <a:prstGeom prst="roundRect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1305" y="263347"/>
            <a:ext cx="9378086" cy="45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options and trade-offs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395935" y="761695"/>
            <a:ext cx="7179869" cy="2048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1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origin: documentary fact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623499" y="308153"/>
            <a:ext cx="1099109" cy="395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7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9671609" y="894283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76434" y="842162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81260" y="790956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87000" y="739750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491826" y="688543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0934" y="1143000"/>
            <a:ext cx="11649456" cy="1829"/>
          </a:xfrm>
          <a:prstGeom prst="line">
            <a:avLst/>
          </a:prstGeom>
          <a:noFill/>
          <a:ln w="8788">
            <a:solidFill>
              <a:srgbClr val="0E2A4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2783" y="1391717"/>
            <a:ext cx="11517782" cy="263347"/>
          </a:xfrm>
          <a:prstGeom prst="roundRect">
            <a:avLst>
              <a:gd name="adj" fmla="val 5556"/>
            </a:avLst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0566" y="1391717"/>
            <a:ext cx="11342218" cy="2633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STATEMENT MATRIX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22783" y="5773522"/>
            <a:ext cx="11517782" cy="248717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7328">
            <a:solidFill>
              <a:srgbClr val="D7E0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3718" y="5773522"/>
            <a:ext cx="11194999" cy="2487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1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 ·  4 ROWS  ·  NATIVE EDITABLE TEXT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934" y="6140196"/>
            <a:ext cx="11649456" cy="1829"/>
          </a:xfrm>
          <a:prstGeom prst="line">
            <a:avLst/>
          </a:prstGeom>
          <a:noFill/>
          <a:ln w="7328">
            <a:solidFill>
              <a:srgbClr val="D7E0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60934" y="6242609"/>
            <a:ext cx="131674" cy="131674"/>
          </a:xfrm>
          <a:prstGeom prst="roundRect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1305" y="6191402"/>
            <a:ext cx="10623499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51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Center Cooling Risk Decision Report, page 2  |  AI Data Center Cooling Risk Decision Report, page 2  |  AI Data Center Cooling Risk Decision Report, page 2  |  AI Data Center Cooling System Overview, page 2</a:t>
            </a:r>
            <a:endParaRPr lang="en-US" sz="710" dirty="0"/>
          </a:p>
        </p:txBody>
      </p:sp>
      <p:sp>
        <p:nvSpPr>
          <p:cNvPr id="21" name="Text 18"/>
          <p:cNvSpPr/>
          <p:nvPr/>
        </p:nvSpPr>
        <p:spPr>
          <a:xfrm>
            <a:off x="381305" y="6381598"/>
            <a:ext cx="10623499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98A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notes: page 2, block 2 — AI Data Center Cooling Risk Decision Report; page 2, block 3 — AI Data Center Cooling Risk Decision Report; page 2, block 4 — AI Data Center Cooling Risk Decision Report; page 2, block 3 — AI Data Center Cooling System Overview</a:t>
            </a:r>
            <a:endParaRPr lang="en-US" sz="640" dirty="0"/>
          </a:p>
        </p:txBody>
      </p:sp>
      <p:sp>
        <p:nvSpPr>
          <p:cNvPr id="22" name="Text 19"/>
          <p:cNvSpPr/>
          <p:nvPr/>
        </p:nvSpPr>
        <p:spPr>
          <a:xfrm>
            <a:off x="11099902" y="6242609"/>
            <a:ext cx="703174" cy="204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1722608" y="6594653"/>
            <a:ext cx="87782" cy="87782"/>
          </a:xfrm>
          <a:prstGeom prst="ellipse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3" y="117043"/>
            <a:ext cx="58522" cy="1025957"/>
          </a:xfrm>
          <a:prstGeom prst="roundRect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0934" y="117043"/>
            <a:ext cx="512978" cy="58522"/>
          </a:xfrm>
          <a:prstGeom prst="roundRect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305" y="263347"/>
            <a:ext cx="9378086" cy="45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and rationale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5935" y="761695"/>
            <a:ext cx="7179869" cy="2048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1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origin: documentary fact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23499" y="308153"/>
            <a:ext cx="1099109" cy="395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7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671609" y="894283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6434" y="842162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81260" y="790956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87000" y="739750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91826" y="688543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934" y="1143000"/>
            <a:ext cx="11649456" cy="1829"/>
          </a:xfrm>
          <a:prstGeom prst="line">
            <a:avLst/>
          </a:prstGeom>
          <a:noFill/>
          <a:ln w="8788">
            <a:solidFill>
              <a:srgbClr val="0E2A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783" y="1391717"/>
            <a:ext cx="11517782" cy="1641348"/>
          </a:xfrm>
          <a:prstGeom prst="roundRect">
            <a:avLst>
              <a:gd name="adj" fmla="val 3565"/>
            </a:avLst>
          </a:prstGeom>
          <a:solidFill>
            <a:srgbClr val="FFF2EC"/>
          </a:solidFill>
          <a:ln w="10986">
            <a:solidFill>
              <a:srgbClr val="C64B1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" y="1773022"/>
            <a:ext cx="864108" cy="865022"/>
          </a:xfrm>
          <a:prstGeom prst="ellipse">
            <a:avLst/>
          </a:prstGeom>
          <a:solidFill>
            <a:srgbClr val="C64B1B"/>
          </a:solidFill>
          <a:ln w="7328">
            <a:solidFill>
              <a:srgbClr val="C64B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" y="1773022"/>
            <a:ext cx="864108" cy="86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699870" y="1612087"/>
            <a:ext cx="9671609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64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9870" y="1977847"/>
            <a:ext cx="9671609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 phased combined response: instrument the baseline, commission automated pump failover, and then tighten sensor calibration governance.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322783" y="3253435"/>
            <a:ext cx="11517782" cy="263347"/>
          </a:xfrm>
          <a:prstGeom prst="roundRect">
            <a:avLst>
              <a:gd name="adj" fmla="val 5556"/>
            </a:avLst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0566" y="3253435"/>
            <a:ext cx="11342218" cy="2633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2783" y="3604565"/>
            <a:ext cx="3663086" cy="1831543"/>
          </a:xfrm>
          <a:prstGeom prst="roundRect">
            <a:avLst>
              <a:gd name="adj" fmla="val 3195"/>
            </a:avLst>
          </a:prstGeom>
          <a:solidFill>
            <a:srgbClr val="EEF5F1"/>
          </a:solidFill>
          <a:ln w="8788">
            <a:solidFill>
              <a:srgbClr val="3F76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3718" y="3781044"/>
            <a:ext cx="322783" cy="322783"/>
          </a:xfrm>
          <a:prstGeom prst="ellipse">
            <a:avLst/>
          </a:prstGeom>
          <a:solidFill>
            <a:srgbClr val="FFFFFF"/>
          </a:solidFill>
          <a:ln w="14656">
            <a:solidFill>
              <a:srgbClr val="3F76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18" y="3781044"/>
            <a:ext cx="322783" cy="3227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F7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" y="3810305"/>
            <a:ext cx="284287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F7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 01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8348" y="4234586"/>
            <a:ext cx="3311957" cy="1829"/>
          </a:xfrm>
          <a:prstGeom prst="line">
            <a:avLst/>
          </a:prstGeom>
          <a:noFill/>
          <a:ln w="7328">
            <a:solidFill>
              <a:srgbClr val="3F76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" y="4396435"/>
            <a:ext cx="3311957" cy="805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20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an option that protects thermal margin, preserves maintainability, and can be verified through staged commissioning.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4161434" y="3604565"/>
            <a:ext cx="3663086" cy="1831543"/>
          </a:xfrm>
          <a:prstGeom prst="roundRect">
            <a:avLst>
              <a:gd name="adj" fmla="val 3195"/>
            </a:avLst>
          </a:prstGeom>
          <a:solidFill>
            <a:srgbClr val="FFF2EC"/>
          </a:solidFill>
          <a:ln w="8788">
            <a:solidFill>
              <a:srgbClr val="C64B1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2369" y="3781044"/>
            <a:ext cx="322783" cy="322783"/>
          </a:xfrm>
          <a:prstGeom prst="ellipse">
            <a:avLst/>
          </a:prstGeom>
          <a:solidFill>
            <a:srgbClr val="FFFFFF"/>
          </a:solidFill>
          <a:ln w="14656">
            <a:solidFill>
              <a:srgbClr val="C64B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2369" y="3781044"/>
            <a:ext cx="322783" cy="3227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64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62195" y="3810305"/>
            <a:ext cx="284287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64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 02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36999" y="4234586"/>
            <a:ext cx="3311957" cy="1829"/>
          </a:xfrm>
          <a:prstGeom prst="line">
            <a:avLst/>
          </a:prstGeom>
          <a:noFill/>
          <a:ln w="7328">
            <a:solidFill>
              <a:srgbClr val="C64B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36999" y="4396435"/>
            <a:ext cx="3311957" cy="805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20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sensing reduces single-point blind spots but does not remove calibration drift risk.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8001000" y="3604565"/>
            <a:ext cx="3663086" cy="1831543"/>
          </a:xfrm>
          <a:prstGeom prst="roundRect">
            <a:avLst>
              <a:gd name="adj" fmla="val 3195"/>
            </a:avLst>
          </a:prstGeom>
          <a:solidFill>
            <a:srgbClr val="EDF3F9"/>
          </a:solidFill>
          <a:ln w="8788">
            <a:solidFill>
              <a:srgbClr val="315E9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1934" y="3781044"/>
            <a:ext cx="322783" cy="322783"/>
          </a:xfrm>
          <a:prstGeom prst="ellipse">
            <a:avLst/>
          </a:prstGeom>
          <a:solidFill>
            <a:srgbClr val="FFFFFF"/>
          </a:solidFill>
          <a:ln w="14656">
            <a:solidFill>
              <a:srgbClr val="315E9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61934" y="3781044"/>
            <a:ext cx="322783" cy="3227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15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01761" y="3810305"/>
            <a:ext cx="284287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15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 03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76565" y="4234586"/>
            <a:ext cx="3311957" cy="1829"/>
          </a:xfrm>
          <a:prstGeom prst="line">
            <a:avLst/>
          </a:prstGeom>
          <a:noFill/>
          <a:ln w="7328">
            <a:solidFill>
              <a:srgbClr val="315E9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76565" y="4396435"/>
            <a:ext cx="3311957" cy="805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20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loss of reliable flow telemetry can hide a developing restriction until component temperatures begin to rise.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2051914" y="5641848"/>
            <a:ext cx="2563978" cy="337414"/>
          </a:xfrm>
          <a:prstGeom prst="chevron">
            <a:avLst/>
          </a:prstGeom>
          <a:solidFill>
            <a:srgbClr val="0E2A47"/>
          </a:solidFill>
          <a:ln w="7328">
            <a:solidFill>
              <a:srgbClr val="0E2A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42109" y="5641848"/>
            <a:ext cx="2095805" cy="3374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35347" y="5641848"/>
            <a:ext cx="2563978" cy="337414"/>
          </a:xfrm>
          <a:prstGeom prst="chevron">
            <a:avLst/>
          </a:prstGeom>
          <a:solidFill>
            <a:srgbClr val="3F765C"/>
          </a:solidFill>
          <a:ln w="7328">
            <a:solidFill>
              <a:srgbClr val="3F76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6457" y="5641848"/>
            <a:ext cx="2095805" cy="3374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FAILOVER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619695" y="5641848"/>
            <a:ext cx="2563978" cy="337414"/>
          </a:xfrm>
          <a:prstGeom prst="chevron">
            <a:avLst/>
          </a:prstGeom>
          <a:solidFill>
            <a:srgbClr val="C64B1B"/>
          </a:solidFill>
          <a:ln w="7328">
            <a:solidFill>
              <a:srgbClr val="C64B1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09890" y="5641848"/>
            <a:ext cx="2095805" cy="3374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60934" y="6140196"/>
            <a:ext cx="11649456" cy="1829"/>
          </a:xfrm>
          <a:prstGeom prst="line">
            <a:avLst/>
          </a:prstGeom>
          <a:noFill/>
          <a:ln w="7328">
            <a:solidFill>
              <a:srgbClr val="D7E0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0934" y="6242609"/>
            <a:ext cx="131674" cy="131674"/>
          </a:xfrm>
          <a:prstGeom prst="roundRect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1305" y="6191402"/>
            <a:ext cx="10623499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51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Center Cooling Risk Decision Report, page 3  |  AI Data Center Cooling Risk Decision Report, page 2  |  AI Data Center Cooling System Overview, page 2  |  AI Data Center Cooling System Overview, page 2</a:t>
            </a:r>
            <a:endParaRPr lang="en-US" sz="710" dirty="0"/>
          </a:p>
        </p:txBody>
      </p:sp>
      <p:sp>
        <p:nvSpPr>
          <p:cNvPr id="47" name="Text 45"/>
          <p:cNvSpPr/>
          <p:nvPr/>
        </p:nvSpPr>
        <p:spPr>
          <a:xfrm>
            <a:off x="381305" y="6381598"/>
            <a:ext cx="10623499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98A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notes: page 3, block 2 — AI Data Center Cooling Risk Decision Report; page 2, block 4 — AI Data Center Cooling Risk Decision Report; page 2, block 6 — AI Data Center Cooling System Overview; page 2, block 5 — AI Data Center Cooling System Overview</a:t>
            </a:r>
            <a:endParaRPr lang="en-US" sz="640" dirty="0"/>
          </a:p>
        </p:txBody>
      </p:sp>
      <p:sp>
        <p:nvSpPr>
          <p:cNvPr id="48" name="Text 46"/>
          <p:cNvSpPr/>
          <p:nvPr/>
        </p:nvSpPr>
        <p:spPr>
          <a:xfrm>
            <a:off x="11099902" y="6242609"/>
            <a:ext cx="703174" cy="204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1722608" y="6594653"/>
            <a:ext cx="87782" cy="87782"/>
          </a:xfrm>
          <a:prstGeom prst="ellipse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3" y="117043"/>
            <a:ext cx="58522" cy="1025957"/>
          </a:xfrm>
          <a:prstGeom prst="roundRect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0934" y="117043"/>
            <a:ext cx="512978" cy="58522"/>
          </a:xfrm>
          <a:prstGeom prst="roundRect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305" y="263347"/>
            <a:ext cx="9378086" cy="4544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path and source notes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95935" y="761695"/>
            <a:ext cx="7179869" cy="2048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51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origin: documentary fact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23499" y="308153"/>
            <a:ext cx="1099109" cy="395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7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671609" y="894283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6434" y="842162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81260" y="790956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87000" y="739750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91826" y="688543"/>
            <a:ext cx="1318565" cy="1829"/>
          </a:xfrm>
          <a:prstGeom prst="line">
            <a:avLst/>
          </a:prstGeom>
          <a:noFill/>
          <a:ln w="5131">
            <a:solidFill>
              <a:srgbClr val="D9E7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934" y="1143000"/>
            <a:ext cx="11649456" cy="1829"/>
          </a:xfrm>
          <a:prstGeom prst="line">
            <a:avLst/>
          </a:prstGeom>
          <a:noFill/>
          <a:ln w="8788">
            <a:solidFill>
              <a:srgbClr val="0E2A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783" y="1391717"/>
            <a:ext cx="11517782" cy="263347"/>
          </a:xfrm>
          <a:prstGeom prst="roundRect">
            <a:avLst>
              <a:gd name="adj" fmla="val 5556"/>
            </a:avLst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0566" y="1391717"/>
            <a:ext cx="11342218" cy="2633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SEQUENCE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2783" y="1816913"/>
            <a:ext cx="2681935" cy="673913"/>
          </a:xfrm>
          <a:prstGeom prst="chevron">
            <a:avLst/>
          </a:prstGeom>
          <a:solidFill>
            <a:srgbClr val="0E2A47"/>
          </a:solidFill>
          <a:ln w="7328">
            <a:solidFill>
              <a:srgbClr val="0E2A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4457" y="1970532"/>
            <a:ext cx="352044" cy="352044"/>
          </a:xfrm>
          <a:prstGeom prst="ellipse">
            <a:avLst/>
          </a:prstGeom>
          <a:solidFill>
            <a:srgbClr val="FFFFFF"/>
          </a:solidFill>
          <a:ln w="14656">
            <a:solidFill>
              <a:srgbClr val="0E2A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7" y="1970532"/>
            <a:ext cx="352044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8914" y="1890065"/>
            <a:ext cx="177302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INPUTS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2783" y="2711196"/>
            <a:ext cx="2563978" cy="2505456"/>
          </a:xfrm>
          <a:prstGeom prst="roundRect">
            <a:avLst>
              <a:gd name="adj" fmla="val 2336"/>
            </a:avLst>
          </a:prstGeom>
          <a:solidFill>
            <a:srgbClr val="EDF3F9"/>
          </a:solidFill>
          <a:ln w="8788">
            <a:solidFill>
              <a:srgbClr val="0E2A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" y="2886761"/>
            <a:ext cx="2212848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2239" y="3209544"/>
            <a:ext cx="2125066" cy="1829"/>
          </a:xfrm>
          <a:prstGeom prst="line">
            <a:avLst/>
          </a:prstGeom>
          <a:noFill/>
          <a:ln w="7328">
            <a:solidFill>
              <a:srgbClr val="0E2A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978" y="3414370"/>
            <a:ext cx="2183587" cy="1538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40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Temperature, flow, and differential-pressure sensors feed a local controller that adjusts pump speed and valve position every control interval.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2886761" y="2916022"/>
            <a:ext cx="32278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98A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202229" y="1816913"/>
            <a:ext cx="2681935" cy="673913"/>
          </a:xfrm>
          <a:prstGeom prst="chevron">
            <a:avLst/>
          </a:prstGeom>
          <a:solidFill>
            <a:srgbClr val="3F765C"/>
          </a:solidFill>
          <a:ln w="7328">
            <a:solidFill>
              <a:srgbClr val="3F76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3902" y="1970532"/>
            <a:ext cx="352044" cy="352044"/>
          </a:xfrm>
          <a:prstGeom prst="ellipse">
            <a:avLst/>
          </a:prstGeom>
          <a:solidFill>
            <a:srgbClr val="FFFFFF"/>
          </a:solidFill>
          <a:ln w="14656">
            <a:solidFill>
              <a:srgbClr val="3F76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3902" y="1970532"/>
            <a:ext cx="352044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F7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88359" y="1890065"/>
            <a:ext cx="177302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CAPTURE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2229" y="2711196"/>
            <a:ext cx="2563978" cy="2505456"/>
          </a:xfrm>
          <a:prstGeom prst="roundRect">
            <a:avLst>
              <a:gd name="adj" fmla="val 2336"/>
            </a:avLst>
          </a:prstGeom>
          <a:solidFill>
            <a:srgbClr val="EEF5F1"/>
          </a:solidFill>
          <a:ln w="8788">
            <a:solidFill>
              <a:srgbClr val="3F76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77794" y="2886761"/>
            <a:ext cx="2212848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F7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21685" y="3209544"/>
            <a:ext cx="2125066" cy="1829"/>
          </a:xfrm>
          <a:prstGeom prst="line">
            <a:avLst/>
          </a:prstGeom>
          <a:noFill/>
          <a:ln w="7328">
            <a:solidFill>
              <a:srgbClr val="3F76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92424" y="3414370"/>
            <a:ext cx="2183587" cy="1538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40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moves coolant through cold plates where server heat enters the primary loop.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5766206" y="2916022"/>
            <a:ext cx="32278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98A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080760" y="1816913"/>
            <a:ext cx="2681935" cy="673913"/>
          </a:xfrm>
          <a:prstGeom prst="chevron">
            <a:avLst/>
          </a:prstGeom>
          <a:solidFill>
            <a:srgbClr val="C64B1B"/>
          </a:solidFill>
          <a:ln w="7328">
            <a:solidFill>
              <a:srgbClr val="C64B1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3348" y="1970532"/>
            <a:ext cx="352044" cy="352044"/>
          </a:xfrm>
          <a:prstGeom prst="ellipse">
            <a:avLst/>
          </a:prstGeom>
          <a:solidFill>
            <a:srgbClr val="FFFFFF"/>
          </a:solidFill>
          <a:ln w="14656">
            <a:solidFill>
              <a:srgbClr val="C64B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3348" y="1970532"/>
            <a:ext cx="352044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64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66890" y="1890065"/>
            <a:ext cx="177302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COMMISSIONING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080760" y="2711196"/>
            <a:ext cx="2563978" cy="2505456"/>
          </a:xfrm>
          <a:prstGeom prst="roundRect">
            <a:avLst>
              <a:gd name="adj" fmla="val 2336"/>
            </a:avLst>
          </a:prstGeom>
          <a:solidFill>
            <a:srgbClr val="FFF2EC"/>
          </a:solidFill>
          <a:ln w="8788">
            <a:solidFill>
              <a:srgbClr val="C64B1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7239" y="2886761"/>
            <a:ext cx="2212848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64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1130" y="3209544"/>
            <a:ext cx="2125066" cy="1829"/>
          </a:xfrm>
          <a:prstGeom prst="line">
            <a:avLst/>
          </a:prstGeom>
          <a:noFill/>
          <a:ln w="7328">
            <a:solidFill>
              <a:srgbClr val="C64B1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71870" y="3414370"/>
            <a:ext cx="2183587" cy="1538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40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records baseline alarms and flow availability; Phase 2 commissions failover under controlled load; Phase 3 audits sensor drift and operating procedures.</a:t>
            </a:r>
            <a:endParaRPr lang="en-US" sz="1140" dirty="0"/>
          </a:p>
        </p:txBody>
      </p:sp>
      <p:sp>
        <p:nvSpPr>
          <p:cNvPr id="41" name="Text 39"/>
          <p:cNvSpPr/>
          <p:nvPr/>
        </p:nvSpPr>
        <p:spPr>
          <a:xfrm>
            <a:off x="8645652" y="2916022"/>
            <a:ext cx="32278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98A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8960206" y="1816913"/>
            <a:ext cx="2681935" cy="673913"/>
          </a:xfrm>
          <a:prstGeom prst="chevron">
            <a:avLst/>
          </a:prstGeom>
          <a:solidFill>
            <a:srgbClr val="315E91"/>
          </a:solidFill>
          <a:ln w="7328">
            <a:solidFill>
              <a:srgbClr val="315E9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92794" y="1970532"/>
            <a:ext cx="352044" cy="352044"/>
          </a:xfrm>
          <a:prstGeom prst="ellipse">
            <a:avLst/>
          </a:prstGeom>
          <a:solidFill>
            <a:srgbClr val="FFFFFF"/>
          </a:solidFill>
          <a:ln w="14656">
            <a:solidFill>
              <a:srgbClr val="315E9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92794" y="1970532"/>
            <a:ext cx="352044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15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546336" y="1890065"/>
            <a:ext cx="177302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RESPONSE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960206" y="2711196"/>
            <a:ext cx="2563978" cy="2505456"/>
          </a:xfrm>
          <a:prstGeom prst="roundRect">
            <a:avLst>
              <a:gd name="adj" fmla="val 2336"/>
            </a:avLst>
          </a:prstGeom>
          <a:solidFill>
            <a:srgbClr val="EDF3F9"/>
          </a:solidFill>
          <a:ln w="8788">
            <a:solidFill>
              <a:srgbClr val="315E9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36685" y="2886761"/>
            <a:ext cx="2212848" cy="190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15E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180576" y="3209544"/>
            <a:ext cx="2125066" cy="1829"/>
          </a:xfrm>
          <a:prstGeom prst="line">
            <a:avLst/>
          </a:prstGeom>
          <a:noFill/>
          <a:ln w="7328">
            <a:solidFill>
              <a:srgbClr val="315E9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51315" y="3414370"/>
            <a:ext cx="2183587" cy="1538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40" dirty="0">
                <a:solidFill>
                  <a:srgbClr val="14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high-temperature alarm, the controller verifies sensor agreement, raises pump output, opens the standby path, and requests compute-load reduction if recovery fails.</a:t>
            </a:r>
            <a:endParaRPr lang="en-US" sz="1140" dirty="0"/>
          </a:p>
        </p:txBody>
      </p:sp>
      <p:sp>
        <p:nvSpPr>
          <p:cNvPr id="50" name="Shape 48"/>
          <p:cNvSpPr/>
          <p:nvPr/>
        </p:nvSpPr>
        <p:spPr>
          <a:xfrm>
            <a:off x="322783" y="5451653"/>
            <a:ext cx="11517782" cy="498348"/>
          </a:xfrm>
          <a:prstGeom prst="roundRect">
            <a:avLst>
              <a:gd name="adj" fmla="val 11743"/>
            </a:avLst>
          </a:prstGeom>
          <a:solidFill>
            <a:srgbClr val="FFFFFF"/>
          </a:solidFill>
          <a:ln w="7328">
            <a:solidFill>
              <a:srgbClr val="D7E0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978" y="5451653"/>
            <a:ext cx="11136478" cy="4983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 →  COMMISSION  →  AUDIT  →  RESPOND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60934" y="6140196"/>
            <a:ext cx="11649456" cy="1829"/>
          </a:xfrm>
          <a:prstGeom prst="line">
            <a:avLst/>
          </a:prstGeom>
          <a:noFill/>
          <a:ln w="7328">
            <a:solidFill>
              <a:srgbClr val="D7E0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0934" y="6242609"/>
            <a:ext cx="131674" cy="131674"/>
          </a:xfrm>
          <a:prstGeom prst="roundRect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1305" y="6191402"/>
            <a:ext cx="10623499" cy="1755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51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Center Cooling System Overview, page 2  |  AI Data Center Cooling System Overview, page 1  |  AI Data Center Cooling Risk Decision Report, page 3  |  AI Data Center Cooling System Overview, page 3</a:t>
            </a:r>
            <a:endParaRPr lang="en-US" sz="710" dirty="0"/>
          </a:p>
        </p:txBody>
      </p:sp>
      <p:sp>
        <p:nvSpPr>
          <p:cNvPr id="55" name="Text 53"/>
          <p:cNvSpPr/>
          <p:nvPr/>
        </p:nvSpPr>
        <p:spPr>
          <a:xfrm>
            <a:off x="381305" y="6381598"/>
            <a:ext cx="10623499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dirty="0">
                <a:solidFill>
                  <a:srgbClr val="98A5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notes: page 2, block 2 — AI Data Center Cooling System Overview; page 1, block 4 — AI Data Center Cooling System Overview; page 3, block 3 — AI Data Center Cooling Risk Decision Report; page 3, block 2 — AI Data Center Cooling System Overview</a:t>
            </a:r>
            <a:endParaRPr lang="en-US" sz="640" dirty="0"/>
          </a:p>
        </p:txBody>
      </p:sp>
      <p:sp>
        <p:nvSpPr>
          <p:cNvPr id="56" name="Text 54"/>
          <p:cNvSpPr/>
          <p:nvPr/>
        </p:nvSpPr>
        <p:spPr>
          <a:xfrm>
            <a:off x="11099902" y="6242609"/>
            <a:ext cx="703174" cy="2048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1722608" y="6594653"/>
            <a:ext cx="87782" cy="87782"/>
          </a:xfrm>
          <a:prstGeom prst="ellipse">
            <a:avLst/>
          </a:prstGeom>
          <a:solidFill>
            <a:srgbClr val="0E2A47"/>
          </a:solidFill>
          <a:ln w="1270">
            <a:solidFill>
              <a:srgbClr val="0E2A4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2026-07-21T15:51:20Z</dcterms:created>
  <dcterms:modified xsi:type="dcterms:W3CDTF">2026-07-21T15:51:20Z</dcterms:modified>
</cp:coreProperties>
</file>